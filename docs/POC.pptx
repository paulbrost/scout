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Automating Assessment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D0D0D5"/>
                </a:solidFill>
                <a:latin typeface="Calibri"/>
              </a:defRPr>
            </a:pPr>
            <a:r>
              <a:t>A Modern Approach to Quality Assurance for NAEP &amp; PIAAC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A8A95"/>
                </a:solidFill>
                <a:latin typeface="Calibri"/>
              </a:defRPr>
            </a:pPr>
            <a:r>
              <a:t>Internal Review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QA Challenge We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What it takes to validate assessment content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01168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Manual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Click through every assessment</a:t>
            </a:r>
            <a:br/>
            <a:r>
              <a:t>item in every language, browser,</a:t>
            </a:r>
            <a:br/>
            <a:r>
              <a:t>and viewport combination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Visual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7180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Manually inspect each screen</a:t>
            </a:r>
            <a:br/>
            <a:r>
              <a:t>for layout issues, missing</a:t>
            </a:r>
            <a:br/>
            <a:r>
              <a:t>content, and rendering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Content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7180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Read every line of text looking</a:t>
            </a:r>
            <a:br/>
            <a:r>
              <a:t>for spelling errors, homophone</a:t>
            </a:r>
            <a:br/>
            <a:r>
              <a:t>misuse, and grammar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116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74C3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606040"/>
            <a:ext cx="201168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Tracking</a:t>
            </a:r>
            <a:r>
              <a:rPr lang="en-US" dirty="0"/>
              <a:t>/</a:t>
            </a:r>
            <a:r>
              <a:rPr dirty="0"/>
              <a:t>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97180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Track what's been tested in</a:t>
            </a:r>
            <a:br/>
            <a:r>
              <a:t>spreadsheets with no centralized</a:t>
            </a:r>
            <a:br/>
            <a:r>
              <a:t>visibility or trend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t>100s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Items to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937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0" y="5120640"/>
            <a:ext cx="246888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rPr lang="en-US" dirty="0"/>
              <a:t>1</a:t>
            </a:r>
            <a:r>
              <a:rPr dirty="0"/>
              <a:t>20+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937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t>3+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Browsers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937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74C3C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Screen Combinations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Proposed Solution: Playwright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An industry-leading test automation framework by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7BFF"/>
                </a:solidFill>
                <a:latin typeface="Calibri"/>
              </a:defRPr>
            </a:pPr>
            <a:r>
              <a:t>What Playwright Offers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Cross-browser testing (Chrome, Firefox, Safari)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Auto-wait and intelligent selectors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Screenshot &amp; video capture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Network interception and mocking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Parallel test execution</a:t>
            </a:r>
          </a:p>
          <a:p>
            <a:pPr>
              <a:lnSpc>
                <a:spcPts val="2720"/>
              </a:lnSpc>
              <a:spcAft>
                <a:spcPts val="400"/>
              </a:spcAft>
              <a:defRPr sz="1600">
                <a:solidFill>
                  <a:srgbClr val="D0D0D5"/>
                </a:solidFill>
                <a:latin typeface="Calibri"/>
              </a:defRPr>
            </a:pPr>
            <a:r>
              <a:t>✓  Built-in visual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39C12"/>
                </a:solidFill>
                <a:latin typeface="Calibri"/>
              </a:defRPr>
            </a:pPr>
            <a:r>
              <a:t>Sounds Great, Right?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4688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t>There's just one problem...</a:t>
            </a:r>
            <a:br/>
            <a:br/>
            <a:r>
              <a:t>Someone has to write the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40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0"/>
              </a:lnSpc>
              <a:spcAft>
                <a:spcPts val="0"/>
              </a:spcAft>
              <a:defRPr sz="14000" b="1">
                <a:solidFill>
                  <a:srgbClr val="353A5A"/>
                </a:solidFill>
                <a:latin typeface="Calibri"/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Your Team Would Need to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74C3C"/>
                </a:solidFill>
                <a:latin typeface="Calibri"/>
              </a:defRPr>
            </a:pPr>
            <a:r>
              <a:t>Before writing a single test...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Learn the language: variables,</a:t>
            </a:r>
            <a:br/>
            <a:r>
              <a:t>functions, async/await,</a:t>
            </a:r>
            <a:br/>
            <a:r>
              <a:t>promises, error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Node.js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88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npm, package.json,</a:t>
            </a:r>
            <a:br/>
            <a:r>
              <a:t>module systems, dependency</a:t>
            </a:r>
            <a:br/>
            <a:r>
              <a:t>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CSS Selectors &amp; 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88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Navigate complex DOM trees,</a:t>
            </a:r>
            <a:br/>
            <a:r>
              <a:t>iframes, shadow DOM,</a:t>
            </a:r>
            <a:br/>
            <a:r>
              <a:t>custom elements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Playwright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Page objects, locators,</a:t>
            </a:r>
            <a:br/>
            <a:r>
              <a:t>assertions, test fixtures,</a:t>
            </a:r>
            <a:br/>
            <a:r>
              <a:t>browser contexts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⌨️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Command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074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Terminal operations, env</a:t>
            </a:r>
            <a:br/>
            <a:r>
              <a:t>variables, CI/CD pipelines,</a:t>
            </a:r>
            <a:br/>
            <a:r>
              <a:t>debugging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39C12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Test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074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Page Object Model, helpers,</a:t>
            </a:r>
            <a:br/>
            <a:r>
              <a:t>reporters, data-driven</a:t>
            </a:r>
            <a:br/>
            <a:r>
              <a:t>testing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74C3C"/>
                </a:solidFill>
                <a:latin typeface="Calibri"/>
              </a:defRPr>
            </a:pPr>
            <a:r>
              <a:t>⏱  Estimated ramp-up time: weeks to months per team member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A "Simple" Playwright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Even a basic test requires significant code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7548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const { test, expect } = require('@playwright/test');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test('verify assessment item loads correctly', async ({ page }) =&gt; {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Navigate to the assessment platform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page.goto('https://assessment.example.com');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Fill login credentials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page.fill('#username', process.env.USER);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page.fill('#password', process.env.PASS);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page.click('button[type="submit"]');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Wait for dashboard to load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page.waitForSelector('.assessment-list', { timeout: 30000 });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Select the assessment form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page.click('text=Grade 4 Reading');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page.waitForNavigation();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Verify the item rendered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const frame = page.frameLocator('#content-frame');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expect(frame.locator('.item-content')).toBeVisible();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Take a screenshot for review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await page.screenshot({ path: 'results/item-check.png' });</a:t>
            </a:r>
          </a:p>
          <a:p>
            <a:pPr>
              <a:lnSpc>
                <a:spcPts val="1620"/>
              </a:lnSpc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72400" y="1965960"/>
            <a:ext cx="365760" cy="27432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async/await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Every line needs async</a:t>
            </a:r>
            <a:br/>
            <a:r>
              <a:t>programming knowledge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400" y="3108960"/>
            <a:ext cx="365760" cy="27432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CSS Selectors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91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#username, .assessment-list,</a:t>
            </a:r>
            <a:br/>
            <a:r>
              <a:t>button[type='submit']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72400" y="4251960"/>
            <a:ext cx="365760" cy="27432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Iframes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434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frameLocator for nested</a:t>
            </a:r>
            <a:br/>
            <a:r>
              <a:t>content — common source</a:t>
            </a:r>
            <a:br/>
            <a:r>
              <a:t>of confusion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72400" y="5394960"/>
            <a:ext cx="365760" cy="27432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Assertions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577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expect() patterns from</a:t>
            </a:r>
            <a:br/>
            <a:r>
              <a:t>Playwright's assertion library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A Real Assessment Test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A8A95"/>
                </a:solidFill>
                <a:latin typeface="Calibri"/>
              </a:defRPr>
            </a:pPr>
            <a:r>
              <a:t>Real-world complexity: PIAAC portal with cascading filters, popups, and nested iframes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7548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const { test } = require('@playwright/test');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const { login } = require('../src/helpers/auth');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const { selectFilters, getItemLinks, openItem,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navigateItemScreens } = require('../src/helpers/piaac');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test('Baseline screenshots — U501-Hiccups', async ({ page }) =&gt; {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test.setTimeout(300000);   // 5 min timeout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const envConfig = JSON.parse(process.env.SCOUT_ENV_CONFIG);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await login(page, { env: envConfig });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await selectFilters(page, {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version: 'FT New', country: 'ZZZ',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language: 'eng',   domain: 'LITNew'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});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const items = await getItemLinks(page);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const targets = items.filter(it =&gt;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it.title?.toLowerCase().includes('u501-hiccups')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endParaRPr/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for (const item of targets) {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const itemPage = await openItem(page, item.itemId);    // popup!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await navigateItemScreens(itemPage, envConfig,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async (pg, idx) =&gt; {                                 // callback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await pg.waitForLoadState('networkidle');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await pg.screenshot({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path: \`results/\${item.itemId}-screen-\${idx}.png\`,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fullPage: true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});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});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await itemPage.close();  // close popup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}</a:t>
            </a:r>
          </a:p>
          <a:p>
            <a:pPr>
              <a:lnSpc>
                <a:spcPts val="1485"/>
              </a:lnSpc>
              <a:spcAft>
                <a:spcPts val="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Helper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148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Requires 1,600+ lines of</a:t>
            </a:r>
            <a:br/>
            <a:r>
              <a:t>custom helper code across</a:t>
            </a:r>
            <a:br/>
            <a:r>
              <a:t>6 utility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Popup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Items open in new browser</a:t>
            </a:r>
            <a:br/>
            <a:r>
              <a:t>windows — need cross-window</a:t>
            </a:r>
            <a:br/>
            <a:r>
              <a:t>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🖼️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Iframe Traversal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526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Content lives inside deeply</a:t>
            </a:r>
            <a:br/>
            <a:r>
              <a:t>nested iframes that must be</a:t>
            </a:r>
            <a:br/>
            <a:r>
              <a:t>individually discovered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Environment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715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JSON config for auth, URLs,</a:t>
            </a:r>
            <a:br/>
            <a:r>
              <a:t>CSS selectors — different</a:t>
            </a:r>
            <a:br/>
            <a:r>
              <a:t>per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Helper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1,600+ lines of custom utility</a:t>
            </a:r>
            <a:br/>
            <a:r>
              <a:t>code to maintain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Ramp-up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Per team member before</a:t>
            </a:r>
            <a:br/>
            <a:r>
              <a:t>writing productive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Every UI change can break</a:t>
            </a:r>
            <a:br/>
            <a:r>
              <a:t>selectors and 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Skill Barrier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260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Requires software engineering</a:t>
            </a:r>
            <a:br/>
            <a:r>
              <a:t>expertise from QA 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I</a:t>
            </a:r>
            <a:r>
              <a:rPr dirty="0"/>
              <a:t>f </a:t>
            </a:r>
            <a:r>
              <a:rPr lang="en-US" dirty="0"/>
              <a:t>only </a:t>
            </a:r>
            <a:r>
              <a:rPr dirty="0"/>
              <a:t>there was a way to get all the power of Playwright</a:t>
            </a:r>
            <a:br>
              <a:rPr dirty="0"/>
            </a:br>
            <a:r>
              <a:rPr dirty="0"/>
              <a:t>without needing to become a software developer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C9A7"/>
                </a:solidFill>
                <a:latin typeface="Calibri"/>
              </a:defRPr>
            </a:pPr>
            <a:r>
              <a:t>There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8A8A95"/>
                </a:solidFill>
                <a:latin typeface="Calibri"/>
              </a:defRPr>
            </a:pPr>
            <a:r>
              <a:t>Forget everything on the last 5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Aft>
                <a:spcPts val="0"/>
              </a:spcAft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Introducing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C9A7"/>
                </a:solidFill>
                <a:latin typeface="Calibri"/>
              </a:defRPr>
            </a:pPr>
            <a:r>
              <a:t>System for Content-validation, Overlap-detection, and UI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06240"/>
            <a:ext cx="3931920" cy="2743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D0D0D5"/>
                </a:solidFill>
                <a:latin typeface="Calibri"/>
              </a:defRPr>
            </a:pPr>
            <a:r>
              <a:t>AI-Powered Test Automation for Assessment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8A8A95"/>
                </a:solidFill>
                <a:latin typeface="Calibri"/>
              </a:defRPr>
            </a:pPr>
            <a:r>
              <a:t>Describe what to test in plain English. Let AI do the rest.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SCOUT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An all-in-one platform that replaces manual QA with intelligent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10896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Test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D0D0D5"/>
                </a:solidFill>
                <a:latin typeface="Calibri"/>
              </a:defRPr>
            </a:pPr>
            <a:r>
              <a:t>Describe tests in plain English.</a:t>
            </a:r>
            <a:br/>
            <a:r>
              <a:t>SCOUT's AI Builder writes</a:t>
            </a:r>
            <a:br/>
            <a:r>
              <a:t>production-ready Playwright</a:t>
            </a:r>
            <a:br/>
            <a:r>
              <a:t>scripts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920240"/>
            <a:ext cx="310896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Automated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D0D0D5"/>
                </a:solidFill>
                <a:latin typeface="Calibri"/>
              </a:defRPr>
            </a:pPr>
            <a:r>
              <a:t>One-click test runs across</a:t>
            </a:r>
            <a:br/>
            <a:r>
              <a:t>multiple browsers. Screenshots,</a:t>
            </a:r>
            <a:br/>
            <a:r>
              <a:t>videos, and traces captured</a:t>
            </a:r>
            <a:br/>
            <a:r>
              <a:t>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1089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Intelligent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D0D0D5"/>
                </a:solidFill>
                <a:latin typeface="Calibri"/>
              </a:defRPr>
            </a:pPr>
            <a:r>
              <a:t>AI scans every screenshot and</a:t>
            </a:r>
            <a:br/>
            <a:r>
              <a:t>text for spelling, grammar,</a:t>
            </a:r>
            <a:br/>
            <a:r>
              <a:t>layout issues, and visual</a:t>
            </a:r>
            <a:br/>
            <a:r>
              <a:t>regressions.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A8A95"/>
                </a:solidFill>
                <a:latin typeface="Calibri"/>
              </a:defRPr>
            </a:pPr>
            <a:r>
              <a:t>No coding required  •  AI is advisory, humans approve  •  Environment-scoped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AI Test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Chat with AI to generate complete Playwright test scripts — no coding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7772400" cy="466344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Natural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Describe what you want</a:t>
            </a:r>
            <a:br/>
            <a:r>
              <a:t>to test in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971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AI researches existing code,</a:t>
            </a:r>
            <a:br/>
            <a:r>
              <a:t>helpers, and items before</a:t>
            </a:r>
            <a:br/>
            <a:r>
              <a:t>generating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Live Code 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See the generated code</a:t>
            </a:r>
            <a:br/>
            <a:r>
              <a:t>in real-time, validate</a:t>
            </a:r>
            <a:br/>
            <a:r>
              <a:t>with one 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257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Save &amp;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532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Save to disk and register</a:t>
            </a:r>
            <a:br/>
            <a:r>
              <a:t>in SCOUT with one click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SCOUT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From plain-language description to verified results in minutes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2560320"/>
            <a:ext cx="731520" cy="7315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Tell AI what</a:t>
            </a:r>
            <a:br/>
            <a:r>
              <a:t>to test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20240" y="2788920"/>
            <a:ext cx="548640" cy="274320"/>
          </a:xfrm>
          <a:prstGeom prst="rightArrow">
            <a:avLst/>
          </a:prstGeom>
          <a:solidFill>
            <a:srgbClr val="35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606040" y="2560320"/>
            <a:ext cx="731520" cy="7315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0604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749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AI writes the</a:t>
            </a:r>
            <a:br/>
            <a:r>
              <a:t>Playwright script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74720" y="2788920"/>
            <a:ext cx="548640" cy="274320"/>
          </a:xfrm>
          <a:prstGeom prst="rightArrow">
            <a:avLst/>
          </a:prstGeom>
          <a:solidFill>
            <a:srgbClr val="35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60520" y="2560320"/>
            <a:ext cx="731520" cy="7315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Organize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749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Group scripts</a:t>
            </a:r>
            <a:br/>
            <a:r>
              <a:t>into suites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29200" y="2788920"/>
            <a:ext cx="548640" cy="274320"/>
          </a:xfrm>
          <a:prstGeom prst="rightArrow">
            <a:avLst/>
          </a:prstGeom>
          <a:solidFill>
            <a:srgbClr val="35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15000" y="2560320"/>
            <a:ext cx="731520" cy="7315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749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One-click run</a:t>
            </a:r>
            <a:br/>
            <a:r>
              <a:t>across browsers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583680" y="2788920"/>
            <a:ext cx="548640" cy="274320"/>
          </a:xfrm>
          <a:prstGeom prst="rightArrow">
            <a:avLst/>
          </a:prstGeom>
          <a:solidFill>
            <a:srgbClr val="35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269480" y="2560320"/>
            <a:ext cx="731520" cy="7315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749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AI inspects</a:t>
            </a:r>
            <a:br/>
            <a:r>
              <a:t>results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138160" y="2788920"/>
            <a:ext cx="548640" cy="274320"/>
          </a:xfrm>
          <a:prstGeom prst="rightArrow">
            <a:avLst/>
          </a:prstGeom>
          <a:solidFill>
            <a:srgbClr val="35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23960" y="2560320"/>
            <a:ext cx="731520" cy="7315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2396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429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749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Humans triage</a:t>
            </a:r>
            <a:br/>
            <a:r>
              <a:t>AI findings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E74C3C"/>
                </a:solidFill>
                <a:latin typeface="Calibri"/>
              </a:defRPr>
            </a:pPr>
            <a:r>
              <a:t>The Old 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29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D0D0D5"/>
                </a:solidFill>
                <a:latin typeface="Calibri"/>
              </a:defRPr>
            </a:pPr>
            <a:r>
              <a:t>✗  Learn JavaScript &amp; Playwright API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D0D0D5"/>
                </a:solidFill>
                <a:latin typeface="Calibri"/>
              </a:defRPr>
            </a:pPr>
            <a:r>
              <a:t>✗  Write hundreds of lines of code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D0D0D5"/>
                </a:solidFill>
                <a:latin typeface="Calibri"/>
              </a:defRPr>
            </a:pPr>
            <a:r>
              <a:t>✗  Debug complex async test failures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D0D0D5"/>
                </a:solidFill>
                <a:latin typeface="Calibri"/>
              </a:defRPr>
            </a:pPr>
            <a:r>
              <a:t>✗  Manually review every screenshot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The SCOUT 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029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D0D0D5"/>
                </a:solidFill>
                <a:latin typeface="Calibri"/>
              </a:defRPr>
            </a:pPr>
            <a:r>
              <a:t>✓  "Write a visual regression test for item VH123456"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D0D0D5"/>
                </a:solidFill>
                <a:latin typeface="Calibri"/>
              </a:defRPr>
            </a:pPr>
            <a:r>
              <a:t>✓  Click Run — tests execute automatically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D0D0D5"/>
                </a:solidFill>
                <a:latin typeface="Calibri"/>
              </a:defRPr>
            </a:pPr>
            <a:r>
              <a:t>✓  AI analyzes screenshots &amp; text for issues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D0D0D5"/>
                </a:solidFill>
                <a:latin typeface="Calibri"/>
              </a:defRPr>
            </a:pPr>
            <a:r>
              <a:t>✓  Review only what AI flags — approve or dismiss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Centralized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Everything your team needs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8412480" cy="466344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41248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BFF"/>
                </a:solidFill>
                <a:latin typeface="Calibri"/>
              </a:defRPr>
            </a:pPr>
            <a:r>
              <a:t>Run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Latest run results</a:t>
            </a:r>
            <a:br/>
            <a:r>
              <a:t>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BFF"/>
                </a:solidFill>
                <a:latin typeface="Calibri"/>
              </a:defRPr>
            </a:pPr>
            <a:r>
              <a:t>AI Flags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Pending items</a:t>
            </a:r>
            <a:br/>
            <a:r>
              <a:t>needing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BFF"/>
                </a:solidFill>
                <a:latin typeface="Calibri"/>
              </a:defRPr>
            </a:pPr>
            <a:r>
              <a:t>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297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Pass/fail tracking</a:t>
            </a:r>
            <a:br/>
            <a:r>
              <a:t>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BFF"/>
                </a:solidFill>
                <a:latin typeface="Calibri"/>
              </a:defRPr>
            </a:pPr>
            <a:r>
              <a:t>Quick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Jump to scripts,</a:t>
            </a:r>
            <a:br/>
            <a:r>
              <a:t>suites, and runs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AI-Powered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Every test result is automatically analyzed by AI — catching what humans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C9A7"/>
                </a:solidFill>
                <a:latin typeface="Calibri"/>
              </a:defRPr>
            </a:pPr>
            <a:r>
              <a:t>📝  Text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Spelling errors across all languages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Homophone misuse (there/their/they're)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Grammar and punctuation issues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Missing or truncated content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Character encoding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7BFF"/>
                </a:solidFill>
                <a:latin typeface="Calibri"/>
              </a:defRPr>
            </a:pPr>
            <a:r>
              <a:t>👁️  Visual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Layout and rendering issues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Missing or broken images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Text readability &amp; contrast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Pixel-diff baseline comparison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D0D0D5"/>
                </a:solidFill>
                <a:latin typeface="Calibri"/>
              </a:defRPr>
            </a:pPr>
            <a:r>
              <a:t>●  Cross-browser visual regressions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126480"/>
            <a:ext cx="9418320" cy="548640"/>
          </a:xfrm>
          <a:prstGeom prst="roundRect">
            <a:avLst>
              <a:gd name="adj" fmla="val 10000"/>
            </a:avLst>
          </a:prstGeom>
          <a:solidFill>
            <a:srgbClr val="1A3A2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6172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27AE60"/>
                </a:solidFill>
                <a:latin typeface="Calibri"/>
              </a:defRPr>
            </a:pPr>
            <a:r>
              <a:t>🛡️  AI is advisory, not autonomous — every flag requires human approval before 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Human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AI flags potential issues — humans make the final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7772400" cy="466344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Mark as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94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Confirm the AI finding</a:t>
            </a:r>
            <a:br/>
            <a:r>
              <a:t>as a real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Suppress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291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Dismiss and auto-suppress</a:t>
            </a:r>
            <a:br/>
            <a:r>
              <a:t>future occurrences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✔️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BFF"/>
                </a:solidFill>
                <a:latin typeface="Calibri"/>
              </a:defRPr>
            </a:pPr>
            <a:r>
              <a:t>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Mark a confirmed issue</a:t>
            </a:r>
            <a:br/>
            <a:r>
              <a:t>as fixed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↩️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8A8A95"/>
                </a:solidFill>
                <a:latin typeface="Calibri"/>
              </a:defRPr>
            </a:pPr>
            <a:r>
              <a:t>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D0D0D5"/>
                </a:solidFill>
                <a:latin typeface="Calibri"/>
              </a:defRPr>
            </a:pPr>
            <a:r>
              <a:t>Send back to pending</a:t>
            </a:r>
            <a:br/>
            <a:r>
              <a:t>for re-review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Test Organization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Group scripts into suites, run with one click, track all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Test Suites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5486400" cy="310896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u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4864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Test Runs &amp;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486400" cy="310896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57400"/>
            <a:ext cx="5486400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📦  Group scripts into reusable suites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🎯  Target specific environments &amp; browsers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▶️  One-click execution for entire suites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📸  Screenshots, videos &amp; trace files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⏱️  Per-script timing and status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🔄  Real-time status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Assessment &amp; Item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Full inventory of assessments and items with linked test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Assessments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5486400" cy="310896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ssess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4864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486400" cy="3108960"/>
          </a:xfrm>
          <a:prstGeom prst="roundRect">
            <a:avLst>
              <a:gd name="adj" fmla="val 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57400"/>
            <a:ext cx="5486400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📋  Full assessment metadata &amp; item counts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🔗  Direct links to associated test scripts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➕  Create new scripts from any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🌍  Multi-language support per item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🏷️  Categories, tiers, and metadata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📊  Linked scripts show test coverage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Simple three-process architecture — no complex infrastructure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A3A5A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7BFF"/>
                </a:solidFill>
                <a:latin typeface="Calibri"/>
              </a:defRPr>
            </a:pPr>
            <a:r>
              <a:t>🌐  Web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Django views, API</a:t>
            </a:r>
            <a:br/>
            <a:r>
              <a:t>Dashboard, Builder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1031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A3A2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⚙️  Task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Playwright execution</a:t>
            </a:r>
            <a:br/>
            <a:r>
              <a:t>AI analysis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3A2A1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39C12"/>
                </a:solidFill>
                <a:latin typeface="Calibri"/>
              </a:defRPr>
            </a:pPr>
            <a:r>
              <a:t>🗄️ 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App data + task queue</a:t>
            </a:r>
            <a:br/>
            <a:r>
              <a:t>No Redis needed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4206240" y="2651760"/>
            <a:ext cx="457200" cy="274320"/>
          </a:xfrm>
          <a:prstGeom prst="leftRightArrow">
            <a:avLst/>
          </a:prstGeom>
          <a:solidFill>
            <a:srgbClr val="45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eft-Right Arrow 14"/>
          <p:cNvSpPr/>
          <p:nvPr/>
        </p:nvSpPr>
        <p:spPr>
          <a:xfrm>
            <a:off x="7589520" y="2651760"/>
            <a:ext cx="457200" cy="274320"/>
          </a:xfrm>
          <a:prstGeom prst="leftRightArrow">
            <a:avLst/>
          </a:prstGeom>
          <a:solidFill>
            <a:srgbClr val="45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7BFF"/>
                </a:solidFill>
                <a:latin typeface="Calibri"/>
              </a:defRPr>
            </a:pPr>
            <a:r>
              <a:t>🎭  Playwright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Cross-browser test</a:t>
            </a:r>
            <a:br/>
            <a:r>
              <a:t>execution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11480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C9A7"/>
                </a:solidFill>
                <a:latin typeface="Calibri"/>
              </a:defRPr>
            </a:pPr>
            <a:r>
              <a:t>🤖  AI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Azure OpenAI, Anthropic</a:t>
            </a:r>
            <a:br/>
            <a:r>
              <a:t>Ollama, OpenRouter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1480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📡  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External integrations</a:t>
            </a:r>
            <a:br/>
            <a:r>
              <a:t>CI/CD pipelines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114800"/>
            <a:ext cx="2468880" cy="1463040"/>
          </a:xfrm>
          <a:prstGeom prst="roundRect">
            <a:avLst>
              <a:gd name="adj" fmla="val 6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8A8A95"/>
                </a:solidFill>
                <a:latin typeface="Calibri"/>
              </a:defRPr>
            </a:pPr>
            <a:r>
              <a:t>🐳 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63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D0D0D5"/>
                </a:solidFill>
                <a:latin typeface="Calibri"/>
              </a:defRPr>
            </a:pPr>
            <a:r>
              <a:t>Containerized</a:t>
            </a:r>
            <a:br/>
            <a: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8A8A95"/>
                </a:solidFill>
                <a:latin typeface="Calibri"/>
              </a:defRPr>
            </a:pPr>
            <a:r>
              <a:t>Flexible AI: Each feature (Builder, Text Analysis, Vision) can use a different AI provider</a:t>
            </a:r>
            <a:br/>
            <a:r>
              <a:t>Swap between Azure OpenAI, Anthropic Claude, local Ollama, or any OpenAI-compatible endpoint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Security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8A8A95"/>
                </a:solidFill>
                <a:latin typeface="Calibri"/>
              </a:defRPr>
            </a:pPr>
            <a:r>
              <a:t>Environment-scoped RBAC ensures teams only see their own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0"/>
              </a:spcAft>
              <a:defRPr sz="1900" b="1">
                <a:solidFill>
                  <a:srgbClr val="007BFF"/>
                </a:solidFill>
                <a:latin typeface="Calibri"/>
              </a:defRPr>
            </a:pPr>
            <a:r>
              <a:t>Environment Scoping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Users are assigned to specific</a:t>
            </a:r>
            <a:br/>
            <a:r>
              <a:t>environments. They can only see</a:t>
            </a:r>
            <a:br/>
            <a:r>
              <a:t>assessments, items, runs, and</a:t>
            </a:r>
            <a:br/>
            <a:r>
              <a:t>reviews within their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0"/>
              </a:spcAft>
              <a:defRPr sz="1900" b="1">
                <a:solidFill>
                  <a:srgbClr val="00C9A7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6888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Admin and standard user roles.</a:t>
            </a:r>
            <a:br/>
            <a:r>
              <a:t>Admins manage environments,</a:t>
            </a:r>
            <a:br/>
            <a:r>
              <a:t>AI config, and user accounts.</a:t>
            </a:r>
            <a:br/>
            <a:r>
              <a:t>Standard users run tests and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97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API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75488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REST API uses client keys with</a:t>
            </a:r>
            <a:br/>
            <a:r>
              <a:t>per-client rate limits, environment</a:t>
            </a:r>
            <a:br/>
            <a:r>
              <a:t>scoping, and usage logging for</a:t>
            </a:r>
            <a:br/>
            <a:r>
              <a:t>external integrations.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120640" cy="201168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97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0"/>
              </a:spcAft>
              <a:defRPr sz="1900" b="1">
                <a:solidFill>
                  <a:srgbClr val="27AE60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75488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All AI analysis results, review</a:t>
            </a:r>
            <a:br/>
            <a:r>
              <a:t>decisions, and suppression rules</a:t>
            </a:r>
            <a:br/>
            <a:r>
              <a:t>are tracked with timestamps</a:t>
            </a:r>
            <a:br/>
            <a:r>
              <a:t>and user attribution.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Why SCOUT?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44752"/>
            <a:ext cx="32004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Coding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QA staff describe tests in plain English.</a:t>
            </a:r>
            <a:br/>
            <a:r>
              <a:t>AI generates production-ready 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44752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AI Catches What </a:t>
            </a:r>
            <a:r>
              <a:rPr lang="en-US" dirty="0"/>
              <a:t>We</a:t>
            </a:r>
            <a:r>
              <a:rPr dirty="0"/>
              <a:t> 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23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Automated spelling, grammar, and visual</a:t>
            </a:r>
            <a:br/>
            <a:r>
              <a:t>analysis across every language and screen.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44752"/>
            <a:ext cx="32004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Faster QA Cycles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From hours of manual clicking to</a:t>
            </a:r>
            <a:br/>
            <a:r>
              <a:t>automated runs that complete in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822192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Centralized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All results, screenshots, and AI findings</a:t>
            </a:r>
            <a:br/>
            <a:r>
              <a:t>in one place — no more spreadsheets.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49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3822192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Consistent &amp; Repeatable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800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Same tests, same criteria, every time.</a:t>
            </a:r>
            <a:br/>
            <a:r>
              <a:t>No human variability or fatigue.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749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845"/>
          </a:solidFill>
          <a:ln w="12700">
            <a:solidFill>
              <a:srgbClr val="35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3822192"/>
            <a:ext cx="32004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2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Enterprise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800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D0D0D5"/>
                </a:solidFill>
                <a:latin typeface="Calibri"/>
              </a:defRPr>
            </a:pPr>
            <a:r>
              <a:t>Environment-scoped access, API keys,</a:t>
            </a:r>
            <a:br/>
            <a:r>
              <a:t>Docker deployment, flexible AI providers.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C9A7"/>
                </a:solidFill>
                <a:latin typeface="Calibri"/>
              </a:defRPr>
            </a:pPr>
            <a:r>
              <a:t>SCOUT: Let AI handle the complexity so your team can focus on quality.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Ready to Get Started?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03120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6858000" cy="3071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rPr dirty="0"/>
              <a:t>🔍   Live demo walkthrough with your team</a:t>
            </a:r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rPr dirty="0"/>
              <a:t>🧪   Pilot program — pick one assessment to automate</a:t>
            </a:r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rPr dirty="0"/>
              <a:t>📖   Training session — 30 minutes to get your first test running</a:t>
            </a:r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r>
              <a:rPr dirty="0"/>
              <a:t>🚀   Phased rollout — expand to additional assessments</a:t>
            </a:r>
            <a:endParaRPr lang="en-US" dirty="0"/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endParaRPr lang="en-US" dirty="0"/>
          </a:p>
          <a:p>
            <a:pPr algn="l">
              <a:lnSpc>
                <a:spcPts val="3600"/>
              </a:lnSpc>
              <a:spcAft>
                <a:spcPts val="400"/>
              </a:spcAft>
              <a:defRPr sz="2000" b="0">
                <a:solidFill>
                  <a:srgbClr val="D0D0D5"/>
                </a:solidFill>
                <a:latin typeface="Calibr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8A8A95"/>
                </a:solidFill>
                <a:latin typeface="Calibri"/>
              </a:defRPr>
            </a:pPr>
            <a:r>
              <a:rPr dirty="0"/>
              <a:t>SCOUT  •  </a:t>
            </a:r>
            <a:r>
              <a:rPr lang="en-US" dirty="0"/>
              <a:t>Every pixel, every word, </a:t>
            </a:r>
            <a:r>
              <a:rPr lang="en-US"/>
              <a:t>every time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2039</Words>
  <Application>Microsoft Office PowerPoint</Application>
  <PresentationFormat>Widescreen</PresentationFormat>
  <Paragraphs>337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Brost, Paul</cp:lastModifiedBy>
  <cp:revision>6</cp:revision>
  <dcterms:created xsi:type="dcterms:W3CDTF">2013-01-27T09:14:16Z</dcterms:created>
  <dcterms:modified xsi:type="dcterms:W3CDTF">2026-03-18T03:43:23Z</dcterms:modified>
  <cp:category/>
</cp:coreProperties>
</file>